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45531" y="2457450"/>
            <a:ext cx="7500937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b="1" sz="4500" i="0" u="none">
                <a:solidFill>
                  <a:srgbClr val="FFFFFF"/>
                </a:solidFill>
                <a:latin typeface="Poppins"/>
              </a:rPr>
              <a:t>Mathematics for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276600"/>
            <a:ext cx="71437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b="0" sz="1950" i="0" u="none">
                <a:solidFill>
                  <a:srgbClr val="38BDF8"/>
                </a:solidFill>
                <a:latin typeface="Inter SemiBold"/>
              </a:rPr>
              <a:t>Module 3: Core Mathematical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886200"/>
            <a:ext cx="7143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Building mathematical intuition before formulas—understanding why Artificial Intelligence requires each fundamental concept.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095500"/>
            <a:ext cx="5334000" cy="361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95500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What is Statistics?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The science of collecting, organizing, analyzing, and interpreting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2724150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724150"/>
            <a:ext cx="5143500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Descriptive Statistics: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Summarizes existing data features (e.g., average viewing duration or user age).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3352800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52800"/>
            <a:ext cx="5143500" cy="77152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Inferential Statistics: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Makes predictions about a larger population using sample data (e.g., predicting election outcomes).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4238625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238625"/>
            <a:ext cx="5143500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AI Role: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Converts raw numbers into structured understanding before training ML models.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867275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867275"/>
            <a:ext cx="5143500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Real World: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Spotify &amp; Netflix analyze billions of logs to discover listening patterns and optimize recommendations.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95500"/>
            <a:ext cx="5334000" cy="3619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oppins"/>
              </a:rPr>
              <a:t>Basics of Statistics in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26915"/>
            <a:ext cx="3492549" cy="335666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226915"/>
            <a:ext cx="3492549" cy="335666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226915"/>
            <a:ext cx="3492549" cy="335666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312890"/>
            <a:ext cx="2940099" cy="4753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3122265"/>
            <a:ext cx="3087104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3A8A"/>
                </a:solidFill>
                <a:latin typeface="Poppins SemiBold"/>
              </a:rPr>
              <a:t>Mean (Average)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569940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Sum of all values divided by total 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978747"/>
            <a:ext cx="294009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Highly sensitive to extreme outliers.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024" y="3122265"/>
            <a:ext cx="3087104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3A8A"/>
                </a:solidFill>
                <a:latin typeface="Poppins SemiBold"/>
              </a:rPr>
              <a:t>Median (Middle)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024" y="3569940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The exact center value of sorted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4293840"/>
            <a:ext cx="294009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Handles skewed distributions smoothly.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024" y="4622452"/>
            <a:ext cx="294009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64748B"/>
                </a:solidFill>
                <a:latin typeface="Inter"/>
              </a:rPr>
              <a:t>Google Maps: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Ignores isolated accident spikes for realistic travel estimates.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4324" y="3122265"/>
            <a:ext cx="3087104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3A8A"/>
                </a:solidFill>
                <a:latin typeface="Poppins SemiBold"/>
              </a:rPr>
              <a:t>Mode (Frequent)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4324" y="3569940"/>
            <a:ext cx="294009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The value that occurs most often.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4324" y="4036665"/>
            <a:ext cx="294009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Identifies top customer choices &amp; category peaks.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4324" y="4579590"/>
            <a:ext cx="294009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Essential for discrete user choices and classification targets.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541240"/>
            <a:ext cx="285750" cy="38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" y="4427190"/>
            <a:ext cx="903833" cy="24675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024" y="2541240"/>
            <a:ext cx="381000" cy="3810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4324" y="2541240"/>
            <a:ext cx="428625" cy="381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oppins"/>
              </a:rPr>
              <a:t>Mean, Median, and Mode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476250"/>
            <a:ext cx="570071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oppins"/>
              </a:rPr>
              <a:t>Standard Deviation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76250" y="1114425"/>
            <a:ext cx="542925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1428750"/>
            <a:ext cx="570071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3A8A"/>
                </a:solidFill>
                <a:latin typeface="Poppins SemiBold"/>
              </a:rPr>
              <a:t>Measuring Data Dispersion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1876425"/>
            <a:ext cx="54292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Standard Deviation ( ) quantifies how spread out numbers are from the average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3213794"/>
            <a:ext cx="54292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Small SD: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Data points cluster tightly near the mean.</a:t>
            </a:r>
            <a:r>
              <a:t>
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Large SD: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Data points are widely distributed.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3876675"/>
            <a:ext cx="54292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AI Fraud Detection: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If a user spends ₹500–₹1,000 daily but suddenly attempts ₹2,00,000, high SD triggers an automatic AI alert.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0" y="1952625"/>
            <a:ext cx="102691" cy="114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2653605"/>
            <a:ext cx="1204763" cy="3315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62658"/>
            <a:ext cx="5334000" cy="288518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62658"/>
            <a:ext cx="5334000" cy="28851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2757933"/>
            <a:ext cx="498062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563EB"/>
                </a:solidFill>
                <a:latin typeface="Poppins SemiBold"/>
              </a:rPr>
              <a:t>Core Concept &amp;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3205608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Probability measures the likelihood of an event occurring, scaled bounded between 0 (impossible) and 1 (certainty).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4423916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Forms the baseline of statistical inference and confidence metrics.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757933"/>
            <a:ext cx="498062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563EB"/>
                </a:solidFill>
                <a:latin typeface="Poppins SemiBold"/>
              </a:rPr>
              <a:t>AI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205608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Spam Classification: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Models assign probabilities such as Spam (0.98) vs. Important (0.02).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834258"/>
            <a:ext cx="47434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Medical AI Diagnostics: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AI models calculate probability of disease presence (e.g., Cancer: 92%, Healthy: 8%) to assist doctor decisions.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3948558"/>
            <a:ext cx="1982688" cy="2181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oppins"/>
              </a:rPr>
              <a:t>Probability in Machine Learning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538412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0614" y="2814637"/>
            <a:ext cx="6170771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oppins"/>
              </a:rPr>
              <a:t>Linear Algebra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814762"/>
            <a:ext cx="7143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The mathematical language of AI—converting images, text, and voice signals into structured numerical matrices.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095500"/>
            <a:ext cx="5334000" cy="361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95500"/>
            <a:ext cx="56007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3A8A"/>
                </a:solidFill>
                <a:latin typeface="Poppins SemiBold"/>
              </a:rPr>
              <a:t>Representing Visual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2543175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543175"/>
            <a:ext cx="5143500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An image is composed of thousands of pixel intensity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2914650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914650"/>
            <a:ext cx="5143500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 grayscale image of size 100 × 100 pixels becomes a 2D matrix of shape 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100 × 100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543300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43300"/>
            <a:ext cx="5143500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Facial Recognition: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AI compares facial feature matrices against database templates to verify identities.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171950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171950"/>
            <a:ext cx="5143500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Matrix operations (addition, multiplication, transpose) enable real-time image filtering and neural layer transformations.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95500"/>
            <a:ext cx="5334000" cy="3619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oppins"/>
              </a:rPr>
              <a:t>Matrices in Computer Vision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33625"/>
            <a:ext cx="3492549" cy="3143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333625"/>
            <a:ext cx="3492549" cy="3143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333625"/>
            <a:ext cx="3492549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725" y="3228975"/>
            <a:ext cx="3087104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3A8A"/>
                </a:solidFill>
                <a:latin typeface="Poppins SemiBold"/>
              </a:rPr>
              <a:t>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676650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 1D array of numbers representing features in spatial dimensions.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400550"/>
            <a:ext cx="294009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Example: [2, 4, 6] representing user attributes or coordinate 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6024" y="3228975"/>
            <a:ext cx="3087104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3A8A"/>
                </a:solidFill>
                <a:latin typeface="Poppins SemiBold"/>
              </a:rPr>
              <a:t>Word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024" y="3676650"/>
            <a:ext cx="29400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Google Translate converts words into dense numerical vectors.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024" y="4400550"/>
            <a:ext cx="294009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Mathematical distance between vectors reflects semantic word relationships.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4324" y="3228975"/>
            <a:ext cx="3087104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3A8A"/>
                </a:solidFill>
                <a:latin typeface="Poppins SemiBold"/>
              </a:rPr>
              <a:t>Matrix Transformations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4324" y="3676650"/>
            <a:ext cx="29400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Operations combine inputs and weights inside neural network layers.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4324" y="4657725"/>
            <a:ext cx="294009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Matrix-vector multiplication computes decisions across millions of neurons.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647950"/>
            <a:ext cx="428625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024" y="2647950"/>
            <a:ext cx="47625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324" y="2647950"/>
            <a:ext cx="428625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oppins"/>
              </a:rPr>
              <a:t>Vectors and Word Embeddings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28602"/>
            <a:ext cx="5334000" cy="17716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2025" y="3019127"/>
            <a:ext cx="45529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50"/>
              </a:lnSpc>
            </a:pPr>
            <a:r>
              <a:rPr b="1" sz="5250" i="0" u="none">
                <a:solidFill>
                  <a:srgbClr val="2563EB"/>
                </a:solidFill>
                <a:latin typeface="Poppins"/>
              </a:rPr>
              <a:t>dy / 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25" y="3781127"/>
            <a:ext cx="45529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E40AF"/>
                </a:solidFill>
                <a:latin typeface="Inter SemiBold"/>
              </a:rPr>
              <a:t>Derivative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628602"/>
            <a:ext cx="56007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3A8A"/>
                </a:solidFill>
                <a:latin typeface="Poppins SemiBold"/>
              </a:rPr>
              <a:t>How Quantities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076277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Calculus studies continuous change. AI relies on 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Differentiation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to calculate how prediction errors respond to weight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4295923"/>
            <a:ext cx="5334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Self-Driving Cars: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Vehicle control systems compute rate of change in speed, steering angle, and braking to guarantee dynamic trajectory stability.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819227"/>
            <a:ext cx="1097160" cy="2480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oppins"/>
              </a:rPr>
              <a:t>Calculus and Rate of Change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476250"/>
            <a:ext cx="5700712" cy="1114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oppins"/>
              </a:rPr>
              <a:t>Gradient Descent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76250" y="1657350"/>
            <a:ext cx="542925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1971675"/>
            <a:ext cx="570071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3A8A"/>
                </a:solidFill>
                <a:latin typeface="Poppins SemiBold"/>
              </a:rPr>
              <a:t>The Learning Engine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2419350"/>
            <a:ext cx="54292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Gradient Descent minimizes model error (loss) by iteratively adjusting weight parameters downhill.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3082230"/>
            <a:ext cx="54292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Mountain Fog Analogy: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Standing on a misty peak, you feel the steepest slope underfoot and step downward until reaching the valley bottom.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4599533"/>
            <a:ext cx="5429250" cy="237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= Learning Rate | = Loss Function | = Gradient Slope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4133701"/>
            <a:ext cx="1407467" cy="23723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666505"/>
            <a:ext cx="99863" cy="95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638" y="4628405"/>
            <a:ext cx="74265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5903" y="4599533"/>
            <a:ext cx="224432" cy="2372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43375"/>
            <a:ext cx="2541240" cy="1238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419" y="2628900"/>
            <a:ext cx="2541240" cy="1038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339" y="4143375"/>
            <a:ext cx="2541240" cy="1038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259" y="2628900"/>
            <a:ext cx="2541240" cy="10382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388620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7990" y="4305300"/>
            <a:ext cx="232825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1D4ED8"/>
                </a:solidFill>
                <a:latin typeface="Poppins SemiBold"/>
              </a:rPr>
              <a:t>1. Initial Guess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619625"/>
            <a:ext cx="221739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YouTube model predicts user watches video for 10 min (actual: 2 min).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3910" y="2790825"/>
            <a:ext cx="232825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1D4ED8"/>
                </a:solidFill>
                <a:latin typeface="Poppins SemiBold"/>
              </a:rPr>
              <a:t>2. Loss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9344" y="3105150"/>
            <a:ext cx="221739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Calculates error gap (Loss J) and gradient slope direction.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9830" y="4305300"/>
            <a:ext cx="232825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1D4ED8"/>
                </a:solidFill>
                <a:latin typeface="Poppins SemiBold"/>
              </a:rPr>
              <a:t>3. Parameter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5264" y="4619625"/>
            <a:ext cx="221739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Updates weight: </a:t>
            </a:r>
            <a:r>
              <a:t>
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5750" y="2790825"/>
            <a:ext cx="232825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1D4ED8"/>
                </a:solidFill>
                <a:latin typeface="Poppins SemiBold"/>
              </a:rPr>
              <a:t>4. Accuracy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1184" y="3105150"/>
            <a:ext cx="221739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Millions of iterations yield highly precise recommendations.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81" y="4829175"/>
            <a:ext cx="1777007" cy="1864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oppins"/>
              </a:rPr>
              <a:t>Gradient Descent Iteration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4687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8279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18709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54629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452687"/>
            <a:ext cx="116014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500" i="0" u="none">
                <a:solidFill>
                  <a:srgbClr val="FFFFFF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52812"/>
            <a:ext cx="11049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You have mastered Module 3: Mathematics for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176712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8BDF8"/>
                </a:solidFill>
                <a:latin typeface="Inter Medium"/>
              </a:rPr>
              <a:t>Statistics • Linear Algebra • Calculus • Gradient Descent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28123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5276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824287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0432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0432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8147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8147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4757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757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4112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66875" y="2431256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https://dashthis.com/media/4142/data-visualization-dashboard-google-analytics.png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2664618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dashthis.com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95637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3202781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https://thefintechtimes.com/wp-content/uploads/2020/10/iStock-585806700-960x681.jpg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3436143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thefintechtimes.com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52887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75" y="3967162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https://static.vecteezy.com/system/resources/previews/076/868/526/non_2x/3d-wireframe-mesh-of-digital-human-head-and-bust-from-multiple-perspectives-artificial-intelligence-facial-recognition-technology-and-biometric-scanning-data-visualization-concept-vector.jpg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4386262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10137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66875" y="4917281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https://miro.medium.com/0*x9C6wHN5BHuqOS4E.png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5150643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medium.com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oppins"/>
              </a:rPr>
              <a:t>Image Sources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
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9606" y="2167979"/>
            <a:ext cx="3252787" cy="295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50631" y="2653754"/>
            <a:ext cx="5890736" cy="1226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b="0" sz="4200" i="0" u="none">
                <a:solidFill>
                  <a:srgbClr val="F8FAFC"/>
                </a:solidFill>
                <a:latin typeface="Poppins SemiBold"/>
              </a:rPr>
              <a:t>Introduction to</a:t>
            </a:r>
            <a:r>
              <a:t>
</a:t>
            </a:r>
            <a:r>
              <a:rPr b="0" sz="4200" i="0" u="none">
                <a:solidFill>
                  <a:srgbClr val="38BDF8"/>
                </a:solidFill>
                <a:latin typeface="Poppins SemiBold"/>
              </a:rPr>
              <a:t>Artificial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875" y="4118520"/>
            <a:ext cx="8096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A complete guide covering AI fundamentals, historical milestones, capability classifications, nested ML/DL concepts, life cycle, and future horizons.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00250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157412"/>
            <a:ext cx="56007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8BDF8"/>
                </a:solidFill>
                <a:latin typeface="Poppins SemiBold"/>
              </a:rPr>
              <a:t>Core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605087"/>
            <a:ext cx="53340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Artificial Intelligence (AI) is a branch of computer science focused on building machines and software capable of performing tasks that normally require human intelligence.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567112"/>
            <a:ext cx="50673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Learning: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Improving performance using experience and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976687"/>
            <a:ext cx="50673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Reasoning: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Making logical decisions via algorithms.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4386262"/>
            <a:ext cx="50673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Perception: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Understanding environment through visual and audio inputs.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5053012"/>
            <a:ext cx="50673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Language: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Comprehending and generating human language.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000250"/>
            <a:ext cx="5334000" cy="3619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3586162"/>
            <a:ext cx="1333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8BDF8"/>
                </a:solidFill>
                <a:latin typeface="Inter"/>
              </a:rPr>
              <a:t>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3995737"/>
            <a:ext cx="1333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8BDF8"/>
                </a:solidFill>
                <a:latin typeface="Inter"/>
              </a:rPr>
              <a:t>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405312"/>
            <a:ext cx="1333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8BDF8"/>
                </a:solidFill>
                <a:latin typeface="Inter"/>
              </a:rPr>
              <a:t>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5072062"/>
            <a:ext cx="1333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8BDF8"/>
                </a:solidFill>
                <a:latin typeface="Inter"/>
              </a:rPr>
              <a:t>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700" i="0" u="none">
                <a:solidFill>
                  <a:srgbClr val="F8FAFC"/>
                </a:solidFill>
                <a:latin typeface="Poppins SemiBold"/>
              </a:rPr>
              <a:t>What is </a:t>
            </a:r>
            <a:r>
              <a:rPr b="0" sz="2700" i="0" u="none">
                <a:solidFill>
                  <a:srgbClr val="38BDF8"/>
                </a:solidFill>
                <a:latin typeface="Poppins SemiBold"/>
              </a:rPr>
              <a:t>Artificial Intelligence?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43112"/>
            <a:ext cx="5334000" cy="3533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43112"/>
            <a:ext cx="5334000" cy="35337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386012"/>
            <a:ext cx="4880610" cy="333375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8BDF8"/>
                </a:solidFill>
                <a:latin typeface="Poppins SemiBold"/>
              </a:rPr>
              <a:t>Human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3687"/>
            <a:ext cx="46482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Learning: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Absorbs knowledge from direct experience and sensory inputs.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62337"/>
            <a:ext cx="46482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Common Sense: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Inherently understands real-world context and social nuance.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90987"/>
            <a:ext cx="46482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Emotions: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Guided by empathy, feelings, and moral reasoning.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19637"/>
            <a:ext cx="46482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Creativity: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Naturally invents, imagines, and creates without training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386012"/>
            <a:ext cx="4880610" cy="333375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818CF8"/>
                </a:solidFill>
                <a:latin typeface="Poppins SemiBold"/>
              </a:rPr>
              <a:t>Artificial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833687"/>
            <a:ext cx="46482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Learning: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Learns patterns from mathematical models and large datasets.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62337"/>
            <a:ext cx="46482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Execution: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Operates strictly on mathematical algorithms and data points.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090987"/>
            <a:ext cx="46482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Emotions: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Lacks true emotion or subjective consciousness.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719637"/>
            <a:ext cx="46482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Creativity: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Generated outputs depend entirely on underlying training patterns.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433637"/>
            <a:ext cx="22860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433637"/>
            <a:ext cx="228600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700" i="0" u="none">
                <a:solidFill>
                  <a:srgbClr val="F8FAFC"/>
                </a:solidFill>
                <a:latin typeface="Poppins SemiBold"/>
              </a:rPr>
              <a:t>Human vs </a:t>
            </a:r>
            <a:r>
              <a:rPr b="0" sz="2700" i="0" u="none">
                <a:solidFill>
                  <a:srgbClr val="38BDF8"/>
                </a:solidFill>
                <a:latin typeface="Poppins SemiBold"/>
              </a:rPr>
              <a:t>Artificial 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790950"/>
            <a:ext cx="11049000" cy="38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0733" y="4095750"/>
            <a:ext cx="255219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38BDF8"/>
                </a:solidFill>
                <a:latin typeface="Poppins SemiBold"/>
              </a:rPr>
              <a:t>1950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495800"/>
            <a:ext cx="243066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1" sz="1125" i="0" u="none">
                <a:solidFill>
                  <a:srgbClr val="CBD5E1"/>
                </a:solidFill>
                <a:latin typeface="Inter"/>
              </a:rPr>
              <a:t>Alan Turing</a:t>
            </a:r>
            <a:r>
              <a:rPr b="0" sz="1125" i="0" u="none">
                <a:solidFill>
                  <a:srgbClr val="CBD5E1"/>
                </a:solidFill>
                <a:latin typeface="Inter"/>
              </a:rPr>
              <a:t> proposes the Turing Test to evaluate machine intelligence.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413" y="2481262"/>
            <a:ext cx="255219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38BDF8"/>
                </a:solidFill>
                <a:latin typeface="Poppins SemiBold"/>
              </a:rPr>
              <a:t>1956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44180" y="2881312"/>
            <a:ext cx="243066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1" sz="1125" i="0" u="none">
                <a:solidFill>
                  <a:srgbClr val="CBD5E1"/>
                </a:solidFill>
                <a:latin typeface="Inter"/>
              </a:rPr>
              <a:t>Dartmouth Conference:</a:t>
            </a:r>
            <a:r>
              <a:rPr b="0" sz="1125" i="0" u="none">
                <a:solidFill>
                  <a:srgbClr val="CBD5E1"/>
                </a:solidFill>
                <a:latin typeface="Inter"/>
              </a:rPr>
              <a:t> John McCarthy coins "Artificial Intelligence".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6094" y="4095750"/>
            <a:ext cx="255219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38BDF8"/>
                </a:solidFill>
                <a:latin typeface="Poppins SemiBold"/>
              </a:rPr>
              <a:t>1997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6860" y="4495800"/>
            <a:ext cx="243066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1" sz="1125" i="0" u="none">
                <a:solidFill>
                  <a:srgbClr val="CBD5E1"/>
                </a:solidFill>
                <a:latin typeface="Inter"/>
              </a:rPr>
              <a:t>IBM Deep Blue</a:t>
            </a:r>
            <a:r>
              <a:rPr b="0" sz="1125" i="0" u="none">
                <a:solidFill>
                  <a:srgbClr val="CBD5E1"/>
                </a:solidFill>
                <a:latin typeface="Inter"/>
              </a:rPr>
              <a:t> defeats world chess champion Garry Kasparov.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28774" y="2695575"/>
            <a:ext cx="255219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38BDF8"/>
                </a:solidFill>
                <a:latin typeface="Poppins SemiBold"/>
              </a:rPr>
              <a:t>2012+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541" y="3095625"/>
            <a:ext cx="243066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1" sz="1125" i="0" u="none">
                <a:solidFill>
                  <a:srgbClr val="CBD5E1"/>
                </a:solidFill>
                <a:latin typeface="Inter"/>
              </a:rPr>
              <a:t>Deep Learning &amp; GenAI</a:t>
            </a:r>
            <a:r>
              <a:rPr b="0" sz="1125" i="0" u="none">
                <a:solidFill>
                  <a:srgbClr val="CBD5E1"/>
                </a:solidFill>
                <a:latin typeface="Inter"/>
              </a:rPr>
              <a:t> era begins with GPUs, LLMs, and ChatGPT.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700" i="0" u="none">
                <a:solidFill>
                  <a:srgbClr val="F8FAFC"/>
                </a:solidFill>
                <a:latin typeface="Poppins SemiBold"/>
              </a:rPr>
              <a:t>Evolution &amp; </a:t>
            </a:r>
            <a:r>
              <a:rPr b="0" sz="2700" i="0" u="none">
                <a:solidFill>
                  <a:srgbClr val="38BDF8"/>
                </a:solidFill>
                <a:latin typeface="Poppins SemiBold"/>
              </a:rPr>
              <a:t>Milestones of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91580" y="37147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64260" y="37147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36941" y="37147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309621" y="37147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238375"/>
          <a:ext cx="11048997" cy="314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778049"/>
                <a:gridCol w="1470719"/>
                <a:gridCol w="4701033"/>
                <a:gridCol w="3099196"/>
              </a:tblGrid>
              <a:tr h="785812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Capability Type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Status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Key Characteristics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Real-World Examples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78581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Inter"/>
                        </a:rPr>
                        <a:t>Narrow AI (Weak AI)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ADE80"/>
                          </a:solidFill>
                          <a:latin typeface="Inter"/>
                        </a:rPr>
                        <a:t>Active / Present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Designed for a specific task; cannot function outside domain.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Siri, ChatGPT, Google Maps, Spam Filters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78581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Inter"/>
                        </a:rPr>
                        <a:t>General AI (AGI)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ACC15"/>
                          </a:solidFill>
                          <a:latin typeface="Inter"/>
                        </a:rPr>
                        <a:t>In Research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Matches human intellect across learning, reasoning, and planning.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Hypothetical human-equivalent system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785814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Inter"/>
                        </a:rPr>
                        <a:t>Super AI (ASI)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87171"/>
                          </a:solidFill>
                          <a:latin typeface="Inter"/>
                        </a:rPr>
                        <a:t>Theoretical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Surpasses human intelligence in every scientific and creative field.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Futuristic theoretical concept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3052762"/>
            <a:ext cx="177804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49549" y="3052762"/>
            <a:ext cx="147071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20269" y="3052762"/>
            <a:ext cx="470103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21303" y="3052762"/>
            <a:ext cx="309919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3824287"/>
            <a:ext cx="177804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49549" y="3824287"/>
            <a:ext cx="147071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20269" y="3824287"/>
            <a:ext cx="470103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21303" y="3824287"/>
            <a:ext cx="309919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4595812"/>
            <a:ext cx="177804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49549" y="4595812"/>
            <a:ext cx="147071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20269" y="4595812"/>
            <a:ext cx="470103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21303" y="4595812"/>
            <a:ext cx="309919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5367337"/>
            <a:ext cx="177804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49549" y="5367337"/>
            <a:ext cx="147071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20269" y="5367337"/>
            <a:ext cx="470103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21303" y="5367337"/>
            <a:ext cx="309919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700" i="0" u="none">
                <a:solidFill>
                  <a:srgbClr val="F8FAFC"/>
                </a:solidFill>
                <a:latin typeface="Poppins SemiBold"/>
              </a:rPr>
              <a:t>Types of AI </a:t>
            </a:r>
            <a:r>
              <a:rPr b="0" sz="2700" i="0" u="none">
                <a:solidFill>
                  <a:srgbClr val="38BDF8"/>
                </a:solidFill>
                <a:latin typeface="Poppins SemiBold"/>
              </a:rPr>
              <a:t>by Capability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81187"/>
            <a:ext cx="3524250" cy="3857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1881187"/>
            <a:ext cx="3524250" cy="3857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1881187"/>
            <a:ext cx="3524250" cy="38576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081212"/>
            <a:ext cx="3124200" cy="2095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3900" y="2081212"/>
            <a:ext cx="3124200" cy="2095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6275" y="2081212"/>
            <a:ext cx="3124200" cy="2095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1525" y="4319587"/>
            <a:ext cx="328041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8BDF8"/>
                </a:solidFill>
                <a:latin typeface="Poppins SemiBold"/>
              </a:rPr>
              <a:t>Healthcare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4767262"/>
            <a:ext cx="31242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Rapid MRI/CT scan analysis, early disease prediction, robotic surgery, and accelerated drug discovery.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3900" y="4319587"/>
            <a:ext cx="328041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8BDF8"/>
                </a:solidFill>
                <a:latin typeface="Poppins SemiBold"/>
              </a:rPr>
              <a:t>Transportation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3900" y="4767262"/>
            <a:ext cx="31242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Self-driving vehicles, real-time traffic prediction, intelligent route planning, and logistics automation.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6275" y="4319587"/>
            <a:ext cx="328041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8BDF8"/>
                </a:solidFill>
                <a:latin typeface="Poppins SemiBold"/>
              </a:rPr>
              <a:t>Generative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6275" y="4767262"/>
            <a:ext cx="31242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Automated software generation, personalized study tutors, smart assistants, and content creation.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2081212"/>
            <a:ext cx="3124200" cy="2095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33900" y="2081212"/>
            <a:ext cx="3124200" cy="2095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96275" y="2081212"/>
            <a:ext cx="3124200" cy="2095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700" i="0" u="none">
                <a:solidFill>
                  <a:srgbClr val="F8FAFC"/>
                </a:solidFill>
                <a:latin typeface="Poppins SemiBold"/>
              </a:rPr>
              <a:t>Applications of </a:t>
            </a:r>
            <a:r>
              <a:rPr b="0" sz="2700" i="0" u="none">
                <a:solidFill>
                  <a:srgbClr val="38BDF8"/>
                </a:solidFill>
                <a:latin typeface="Poppins SemiBold"/>
              </a:rPr>
              <a:t>AI in Real World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95550"/>
            <a:ext cx="3524250" cy="2628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495550"/>
            <a:ext cx="3524250" cy="2628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2495550"/>
            <a:ext cx="3524250" cy="2628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2771775"/>
            <a:ext cx="523875" cy="523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486150"/>
            <a:ext cx="312039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8BDF8"/>
                </a:solidFill>
                <a:latin typeface="Poppins SemiBold"/>
              </a:rPr>
              <a:t>Artificial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933825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CBD5E1"/>
                </a:solidFill>
                <a:latin typeface="Inter"/>
              </a:rPr>
              <a:t>Broadest Field: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The overall science of building smart machines capable of performing human-like cognitive tasks.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0100" y="2771775"/>
            <a:ext cx="523875" cy="523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10100" y="3486150"/>
            <a:ext cx="312039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8BDF8"/>
                </a:solidFill>
                <a:latin typeface="Poppins SemiBold"/>
              </a:rPr>
              <a:t>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0100" y="3933825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CBD5E1"/>
                </a:solidFill>
                <a:latin typeface="Inter"/>
              </a:rPr>
              <a:t>Subset of AI: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Systems that learn patterns directly from structured data to make decisions without explicit programming.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2475" y="2771775"/>
            <a:ext cx="523875" cy="5238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72475" y="3486150"/>
            <a:ext cx="312039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8BDF8"/>
                </a:solidFill>
                <a:latin typeface="Poppins SemiBold"/>
              </a:rPr>
              <a:t>Deep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2475" y="3933825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CBD5E1"/>
                </a:solidFill>
                <a:latin typeface="Inter"/>
              </a:rPr>
              <a:t>Subset of ML: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Uses multi-layered artificial neural networks to extract complex features from massive unstructured data automatically.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7262" y="2900362"/>
            <a:ext cx="304800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9637" y="2900362"/>
            <a:ext cx="304800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7725" y="2900362"/>
            <a:ext cx="333375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700" i="0" u="none">
                <a:solidFill>
                  <a:srgbClr val="F8FAFC"/>
                </a:solidFill>
                <a:latin typeface="Poppins SemiBold"/>
              </a:rPr>
              <a:t>AI vs </a:t>
            </a:r>
            <a:r>
              <a:rPr b="0" sz="2700" i="0" u="none">
                <a:solidFill>
                  <a:srgbClr val="38BDF8"/>
                </a:solidFill>
                <a:latin typeface="Poppins SemiBold"/>
              </a:rPr>
              <a:t>Machine Learning vs DL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3162300"/>
            <a:ext cx="5334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b="1" sz="8250" i="0" u="none">
                <a:solidFill>
                  <a:srgbClr val="38BDF8"/>
                </a:solidFill>
                <a:latin typeface="Poppins"/>
              </a:rPr>
              <a:t>100x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4210050"/>
            <a:ext cx="5334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F8FAFC"/>
                </a:solidFill>
                <a:latin typeface="Inter SemiBold"/>
              </a:rPr>
              <a:t>Processing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2743200"/>
            <a:ext cx="56007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8BDF8"/>
                </a:solidFill>
                <a:latin typeface="Poppins SemiBold"/>
              </a:rPr>
              <a:t>Overcoming Human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3190875"/>
            <a:ext cx="5334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Humans face physical speed limits, fatigue, and cognitive overload when analyzing big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848100"/>
            <a:ext cx="53340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Medical Example: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A physician might take 15 minutes to review a single MRI scan, while an AI model can process thousands of scans in minutes with 24/7 consistency and high diagnostic accuracy.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700" i="0" u="none">
                <a:solidFill>
                  <a:srgbClr val="F8FAFC"/>
                </a:solidFill>
                <a:latin typeface="Poppins SemiBold"/>
              </a:rPr>
              <a:t>Why We Need AI: </a:t>
            </a:r>
            <a:r>
              <a:rPr b="0" sz="2700" i="0" u="none">
                <a:solidFill>
                  <a:srgbClr val="38BDF8"/>
                </a:solidFill>
                <a:latin typeface="Poppins SemiBold"/>
              </a:rPr>
              <a:t>Scale &amp; Speed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76487"/>
            <a:ext cx="5334000" cy="2867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376487"/>
            <a:ext cx="5334000" cy="28670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719387"/>
            <a:ext cx="488061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8BDF8"/>
                </a:solidFill>
                <a:latin typeface="Poppins SemiBold"/>
              </a:rPr>
              <a:t>1. Preparation Phase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67062"/>
            <a:ext cx="46482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Problem Identification: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Define business goals and outcomes.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76662"/>
            <a:ext cx="46482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Data Collection: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Gather raw data from databases, APIs, and sensors.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6262"/>
            <a:ext cx="46482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Data Cleaning: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Remove duplicates, handle nulls, and encode features.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719387"/>
            <a:ext cx="488061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8BDF8"/>
                </a:solidFill>
                <a:latin typeface="Poppins SemiBold"/>
              </a:rPr>
              <a:t>2. Execution &amp;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167062"/>
            <a:ext cx="46482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Model Training: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Feed algorithms historical training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19487"/>
            <a:ext cx="46482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Evaluation: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Measure Precision, Recall, Accuracy, and F1-score.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129087"/>
            <a:ext cx="46482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Deployment &amp; Maintenance: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Integrate into apps and monitor continuously.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700" i="0" u="none">
                <a:solidFill>
                  <a:srgbClr val="F8FAFC"/>
                </a:solidFill>
                <a:latin typeface="Poppins SemiBold"/>
              </a:rPr>
              <a:t>The AI </a:t>
            </a:r>
            <a:r>
              <a:rPr b="0" sz="2700" i="0" u="none">
                <a:solidFill>
                  <a:srgbClr val="38BDF8"/>
                </a:solidFill>
                <a:latin typeface="Poppins SemiBold"/>
              </a:rPr>
              <a:t>Development Life Cycle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550693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700" i="0" u="none">
                <a:solidFill>
                  <a:srgbClr val="F8FAFC"/>
                </a:solidFill>
                <a:latin typeface="Poppins SemiBold"/>
              </a:rPr>
              <a:t>Future Horizons in </a:t>
            </a:r>
            <a:r>
              <a:rPr b="0" sz="2700" i="0" u="none">
                <a:solidFill>
                  <a:srgbClr val="38BDF8"/>
                </a:solidFill>
                <a:latin typeface="Poppins SemiBold"/>
              </a:rPr>
              <a:t>AI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238250"/>
            <a:ext cx="555069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8BDF8"/>
                </a:solidFill>
                <a:latin typeface="Poppins SemiBold"/>
              </a:rPr>
              <a:t>Emerging Frontiers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685925"/>
            <a:ext cx="52863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Autonomous AI Agents: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Systems executing multi-step planning, tool usage, and complex reasoning independently.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200275"/>
            <a:ext cx="52863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Healthcare Revolution: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Early tumor detection, custom gene therapies, and robotic surgical assistants.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714625"/>
            <a:ext cx="52863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Responsible &amp; Ethical AI: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Worldwide focus on reducing model bias, ensuring privacy, and maintaining transparency.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0125" y="2786062"/>
            <a:ext cx="1062037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F8FAFC"/>
                </a:solidFill>
                <a:latin typeface="Inter"/>
              </a:rPr>
              <a:t>Core Purpose: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AI enables systems to learn, reason, make decisions, and perceive environments autonomously.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125" y="3233737"/>
            <a:ext cx="1062037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F8FAFC"/>
                </a:solidFill>
                <a:latin typeface="Inter"/>
              </a:rPr>
              <a:t>Current State: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We currently live in the age of Narrow AI (task-specific systems), while General AI remains a future research goal.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125" y="3681412"/>
            <a:ext cx="1062037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F8FAFC"/>
                </a:solidFill>
                <a:latin typeface="Inter"/>
              </a:rPr>
              <a:t>Nested Hierarchy: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Deep Learning is a subset of Machine Learning, which is itself a subset of Artificial Intelligence (AI ⊃ ML ⊃ DL).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4129087"/>
            <a:ext cx="106203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F8FAFC"/>
                </a:solidFill>
                <a:latin typeface="Inter"/>
              </a:rPr>
              <a:t>Lifecycle Approach: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Successful AI solutions require systematic data collection, preprocessing, feature engineering, model training, and continuous monitoring.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09875"/>
            <a:ext cx="209550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57550"/>
            <a:ext cx="209550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705225"/>
            <a:ext cx="20955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52900"/>
            <a:ext cx="209550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700" i="0" u="none">
                <a:solidFill>
                  <a:srgbClr val="F8FAFC"/>
                </a:solidFill>
                <a:latin typeface="Poppins SemiBold"/>
              </a:rPr>
              <a:t>Module 1 </a:t>
            </a:r>
            <a:r>
              <a:rPr b="0" sz="2700" i="0" u="none">
                <a:solidFill>
                  <a:srgbClr val="38BDF8"/>
                </a:solidFill>
                <a:latin typeface="Poppins SemiBold"/>
              </a:rPr>
              <a:t>Key Takeaways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476250"/>
            <a:ext cx="1160145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5400" i="0" u="none">
                <a:solidFill>
                  <a:srgbClr val="F8FAFC"/>
                </a:solidFill>
                <a:latin typeface="Poppins SemiBold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647825"/>
            <a:ext cx="110490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Thank you for participating in Module 1!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295525"/>
            <a:ext cx="11049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38BDF8"/>
                </a:solidFill>
                <a:latin typeface="Inter"/>
              </a:rPr>
              <a:t>Module 1: Introduction to Artificial Intelligence • Classroom &amp; Corporate Training Series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100262"/>
            <a:ext cx="11049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043237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814762"/>
            <a:ext cx="11049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0337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30337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38052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8052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47482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47482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28862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66875" y="2243137"/>
            <a:ext cx="99536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https://img.magnific.com/premium-vector/abstract-digital-brain-illustration-representing-artificial-intelligence-machine-learning-technological-innovation_1050143-4289.jpg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2662237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www.magnific.com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86112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75" y="3193256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https://kenthospitals.com/wp-content/uploads/2025/08/AI-in-Imaging1-1024x683.jpg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3426618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kenthospitals.com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43362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875" y="3957637"/>
            <a:ext cx="99536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https://www.geotab.com/CMS-Media-production/Blog/NA/September_2019/future-of-transportation/blog-smart-car-and-autonomous-selfdriving-mode-vehicle-on-metro-city-road-picture-id877349122-hero@2x.jpg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4376737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www.geotab.com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900612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75" y="4907756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https://softgrid.solutions/uploads/1782800925132-ChatGPT-Image-Jun-30--2026--11-28-35-AM.png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5141118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www.softgrid.solutions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700" i="0" u="none">
                <a:solidFill>
                  <a:srgbClr val="F8FAFC"/>
                </a:solidFill>
                <a:latin typeface="Poppins SemiBold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